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2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desplazar la diapositiva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E047C6-DDCE-4249-8DCE-F5939AC431C0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857EAA-D39D-4EBB-8358-7782F99783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8F547F8-AC2D-4504-93C8-84DD7CF5383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105B17-356F-4079-8EAD-61C445B8DD1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276059-6085-41DB-9E75-05035C01FDB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88650B-B0D9-4AAF-BC7B-98107FC1F5B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BF87E92-E3D5-47A0-9B01-7C7FF0533BD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0A7958-23BF-4EA6-BD61-D5060F9129F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A1710D-3FC8-471C-9BF2-2C95E650571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E5435D2-C1B7-4DC2-BD68-50E28C0F33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C47BA5-1A02-4694-BDF5-822BAC5D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7EBCC2-37F1-4BA2-A429-4840DE2CA77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98312C-F0BE-416E-B74B-69BE40EE2F6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C3F909-6D1C-416C-A574-3B255DE906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6;p3"/>
          <p:cNvSpPr/>
          <p:nvPr/>
        </p:nvSpPr>
        <p:spPr>
          <a:xfrm>
            <a:off x="9418320" y="-1371600"/>
            <a:ext cx="4570920" cy="45709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7;p3"/>
          <p:cNvSpPr/>
          <p:nvPr/>
        </p:nvSpPr>
        <p:spPr>
          <a:xfrm>
            <a:off x="-1828800" y="4572000"/>
            <a:ext cx="4113720" cy="4113720"/>
          </a:xfrm>
          <a:prstGeom prst="ellipse">
            <a:avLst/>
          </a:prstGeom>
          <a:solidFill>
            <a:srgbClr val="F2A541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3"/>
          <p:cNvSpPr/>
          <p:nvPr/>
        </p:nvSpPr>
        <p:spPr>
          <a:xfrm>
            <a:off x="731520" y="2377440"/>
            <a:ext cx="1069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2A541"/>
                </a:solidFill>
                <a:effectLst/>
                <a:uFillTx/>
                <a:latin typeface="Calibri"/>
                <a:ea typeface="Calibri"/>
              </a:rPr>
              <a:t>Joy + Tech + AI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3"/>
          <p:cNvSpPr/>
          <p:nvPr/>
        </p:nvSpPr>
        <p:spPr>
          <a:xfrm>
            <a:off x="731520" y="2743200"/>
            <a:ext cx="10697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Doctor Joy</a:t>
            </a:r>
            <a:endParaRPr lang="es-E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3"/>
          <p:cNvSpPr/>
          <p:nvPr/>
        </p:nvSpPr>
        <p:spPr>
          <a:xfrm>
            <a:off x="731520" y="3383280"/>
            <a:ext cx="1069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Programa de atención virtual médica con API local y de Claude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3"/>
          <p:cNvSpPr/>
          <p:nvPr/>
        </p:nvSpPr>
        <p:spPr>
          <a:xfrm>
            <a:off x="731520" y="6217920"/>
            <a:ext cx="10697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Jon Alegría Díez |  07/08/2026  |  JoyTechAI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18000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28;p4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50292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Google Shape;29;p4"/>
          <p:cNvSpPr/>
          <p:nvPr/>
        </p:nvSpPr>
        <p:spPr>
          <a:xfrm>
            <a:off x="548640" y="45720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Agenda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00;p4"/>
          <p:cNvSpPr/>
          <p:nvPr/>
        </p:nvSpPr>
        <p:spPr>
          <a:xfrm>
            <a:off x="548640" y="1828800"/>
            <a:ext cx="1962000" cy="292500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01;p4"/>
          <p:cNvSpPr/>
          <p:nvPr/>
        </p:nvSpPr>
        <p:spPr>
          <a:xfrm>
            <a:off x="777240" y="2103120"/>
            <a:ext cx="639000" cy="639000"/>
          </a:xfrm>
          <a:prstGeom prst="ellipse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Google Shape;202;p4" descr="preencoded.png"/>
          <p:cNvPicPr/>
          <p:nvPr/>
        </p:nvPicPr>
        <p:blipFill>
          <a:blip r:embed="rId2"/>
          <a:stretch/>
        </p:blipFill>
        <p:spPr>
          <a:xfrm>
            <a:off x="914400" y="22402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Google Shape;203;p4"/>
          <p:cNvSpPr/>
          <p:nvPr/>
        </p:nvSpPr>
        <p:spPr>
          <a:xfrm>
            <a:off x="1688760" y="205740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D0D5DD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204;p4"/>
          <p:cNvSpPr/>
          <p:nvPr/>
        </p:nvSpPr>
        <p:spPr>
          <a:xfrm>
            <a:off x="777240" y="2971800"/>
            <a:ext cx="1504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Presentación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05;p4"/>
          <p:cNvSpPr/>
          <p:nvPr/>
        </p:nvSpPr>
        <p:spPr>
          <a:xfrm>
            <a:off x="2831760" y="1828800"/>
            <a:ext cx="1962000" cy="292500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206;p4"/>
          <p:cNvSpPr/>
          <p:nvPr/>
        </p:nvSpPr>
        <p:spPr>
          <a:xfrm>
            <a:off x="3060360" y="2103120"/>
            <a:ext cx="639000" cy="639000"/>
          </a:xfrm>
          <a:prstGeom prst="ellipse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Google Shape;207;p4" descr="preencoded.png"/>
          <p:cNvPicPr/>
          <p:nvPr/>
        </p:nvPicPr>
        <p:blipFill>
          <a:blip r:embed="rId3"/>
          <a:stretch/>
        </p:blipFill>
        <p:spPr>
          <a:xfrm>
            <a:off x="3197520" y="22402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Google Shape;208;p4"/>
          <p:cNvSpPr/>
          <p:nvPr/>
        </p:nvSpPr>
        <p:spPr>
          <a:xfrm>
            <a:off x="3971520" y="205740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D0D5DD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209;p4"/>
          <p:cNvSpPr/>
          <p:nvPr/>
        </p:nvSpPr>
        <p:spPr>
          <a:xfrm>
            <a:off x="3060360" y="2971800"/>
            <a:ext cx="1504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Entornos de Trabajo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210;p4"/>
          <p:cNvSpPr/>
          <p:nvPr/>
        </p:nvSpPr>
        <p:spPr>
          <a:xfrm>
            <a:off x="5114520" y="1828800"/>
            <a:ext cx="1962000" cy="292500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211;p4"/>
          <p:cNvSpPr/>
          <p:nvPr/>
        </p:nvSpPr>
        <p:spPr>
          <a:xfrm>
            <a:off x="5343120" y="2103120"/>
            <a:ext cx="639000" cy="639000"/>
          </a:xfrm>
          <a:prstGeom prst="ellipse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Google Shape;212;p4" descr="preencoded.png"/>
          <p:cNvPicPr/>
          <p:nvPr/>
        </p:nvPicPr>
        <p:blipFill>
          <a:blip r:embed="rId4"/>
          <a:stretch/>
        </p:blipFill>
        <p:spPr>
          <a:xfrm>
            <a:off x="5480280" y="22402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213;p4"/>
          <p:cNvSpPr/>
          <p:nvPr/>
        </p:nvSpPr>
        <p:spPr>
          <a:xfrm>
            <a:off x="6254640" y="205740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D0D5DD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Google Shape;214;p4"/>
          <p:cNvSpPr/>
          <p:nvPr/>
        </p:nvSpPr>
        <p:spPr>
          <a:xfrm>
            <a:off x="5343120" y="2971800"/>
            <a:ext cx="1504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Desarrollo del Proyecto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215;p4"/>
          <p:cNvSpPr/>
          <p:nvPr/>
        </p:nvSpPr>
        <p:spPr>
          <a:xfrm>
            <a:off x="7397640" y="1828800"/>
            <a:ext cx="1962000" cy="292500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216;p4"/>
          <p:cNvSpPr/>
          <p:nvPr/>
        </p:nvSpPr>
        <p:spPr>
          <a:xfrm>
            <a:off x="7626240" y="2103120"/>
            <a:ext cx="639000" cy="639000"/>
          </a:xfrm>
          <a:prstGeom prst="ellipse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Google Shape;217;p4" descr="preencoded.png"/>
          <p:cNvPicPr/>
          <p:nvPr/>
        </p:nvPicPr>
        <p:blipFill>
          <a:blip r:embed="rId5"/>
          <a:stretch/>
        </p:blipFill>
        <p:spPr>
          <a:xfrm>
            <a:off x="7763400" y="22402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Google Shape;218;p4"/>
          <p:cNvSpPr/>
          <p:nvPr/>
        </p:nvSpPr>
        <p:spPr>
          <a:xfrm>
            <a:off x="8537400" y="205740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D0D5DD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219;p4"/>
          <p:cNvSpPr/>
          <p:nvPr/>
        </p:nvSpPr>
        <p:spPr>
          <a:xfrm>
            <a:off x="7626240" y="2971800"/>
            <a:ext cx="1504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Variantes del Programa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220;p4"/>
          <p:cNvSpPr/>
          <p:nvPr/>
        </p:nvSpPr>
        <p:spPr>
          <a:xfrm>
            <a:off x="9680400" y="1828800"/>
            <a:ext cx="1962000" cy="2925000"/>
          </a:xfrm>
          <a:prstGeom prst="roundRect">
            <a:avLst>
              <a:gd name="adj" fmla="val 2759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221;p4"/>
          <p:cNvSpPr/>
          <p:nvPr/>
        </p:nvSpPr>
        <p:spPr>
          <a:xfrm>
            <a:off x="9909000" y="2103120"/>
            <a:ext cx="639000" cy="639000"/>
          </a:xfrm>
          <a:prstGeom prst="ellipse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Google Shape;222;p4" descr="preencoded.png"/>
          <p:cNvPicPr/>
          <p:nvPr/>
        </p:nvPicPr>
        <p:blipFill>
          <a:blip r:embed="rId6"/>
          <a:stretch/>
        </p:blipFill>
        <p:spPr>
          <a:xfrm>
            <a:off x="10046160" y="22402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Google Shape;223;p4"/>
          <p:cNvSpPr/>
          <p:nvPr/>
        </p:nvSpPr>
        <p:spPr>
          <a:xfrm>
            <a:off x="10820520" y="2057400"/>
            <a:ext cx="63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D0D5DD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224;p4"/>
          <p:cNvSpPr/>
          <p:nvPr/>
        </p:nvSpPr>
        <p:spPr>
          <a:xfrm>
            <a:off x="9909000" y="2971800"/>
            <a:ext cx="1504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Próximos pasos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55;p5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57;p5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58;p5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Presentación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59;p5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Presentación de la idea del proyecto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000" y="18000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65;p6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Google Shape;66;p6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Presentación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67;p6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La idea de este proyecto era proponer una solución para la atención de clientes de un centro médico.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Se simula una situación en la que un cliente llama al centro médico para pedir cita y la IA le pregunta los sintomas, la gravedad de estos y le da posible soluciones temporales para mejorar su situación hasta la cita.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Después de la conversación la IA actualizará el archivo Excel donde se guardan los archivos de los clientes que han llamado dando una calificación a la gravedad de la enfermedad de la persona que ha llamado.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Existen dos versiones del programa, la primera con la IA local y la segunda con la API de Claude.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68;p6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69;p6" descr="preencoded.png"/>
          <p:cNvPicPr/>
          <p:nvPr/>
        </p:nvPicPr>
        <p:blipFill>
          <a:blip r:embed="rId2"/>
          <a:stretch/>
        </p:blipFill>
        <p:spPr>
          <a:xfrm>
            <a:off x="7942320" y="2455920"/>
            <a:ext cx="2402640" cy="240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75;p7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77;p7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78;p7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Entorno de Trabajo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79;p7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Descripción del entorno de trabajo y las herramientas de IA utilizadas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85;p8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Google Shape;86;p8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Entorno de Trabajo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87;p8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Para el desarrollo de esta aplicación usamos Visual Studio Code ya que esto nos permite utilizar Claude Code implementado en el propio entorno de Visual Studio.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Con Claude Code el desarrollo se simplifica mucho ya que el código lo escribe la IA y el trabajo del ingeniero es de revisión y comprobación.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También necesitamos la API de Claude en caso de que queramos hacerlo con una API externa o LM Studio si queremos hacerlo con la IA local. 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En caso de la IA local existen más opciones aparte de LM Studio pero la ventaja de LM Studio es que la implementación es muy similar a hacerla con la API de OpenAI (Chat GPT). 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88;p8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Google Shape;89;p8" descr="preencoded.png"/>
          <p:cNvPicPr/>
          <p:nvPr/>
        </p:nvPicPr>
        <p:blipFill>
          <a:blip r:embed="rId2"/>
          <a:stretch/>
        </p:blipFill>
        <p:spPr>
          <a:xfrm>
            <a:off x="7940880" y="2454480"/>
            <a:ext cx="2404800" cy="240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95;p9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7;p9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98;p9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Trabajando con Claude Code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99;p9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Explicación del método de trabajo con Claude Code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105;p10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106;p10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Trabajando con Claude Code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7;p10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Trabajar con Claude Code no significa trabajar ciegamente dejando que la IA trabaje ella sola sino que es un trabajo de revisión y comprobación.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Lo primero que se puede hacer si no sabes como empezar o que pedirle a la IA es explicar la idea que tienes y pedirle a cualquier chatbot que te de las instrucciones para ponerle a Claude Code.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Una vez consigues una primera versión funcional lo más recomendable es ir añadiendo el resto de funciones de una a una para facilitar el trabajo de la IA.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Entre cada función añadida hay que hacer las comprobaciones necesarias para ver que entre cada modificación de la IA no ha creado algún otro problema.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Es recomendable ir guardando las versiones funcionales por lo antes mencionado también.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8;p10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Google Shape;109;p10" descr="preencoded.png"/>
          <p:cNvPicPr/>
          <p:nvPr/>
        </p:nvPicPr>
        <p:blipFill>
          <a:blip r:embed="rId2"/>
          <a:stretch/>
        </p:blipFill>
        <p:spPr>
          <a:xfrm>
            <a:off x="7947720" y="2461320"/>
            <a:ext cx="2391480" cy="239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115;p11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17;p11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04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8;p11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API de ElevenLabs y Claude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19;p11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Explicación de las diferentes APIs utilizadas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125;p12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Google Shape;126;p12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API de ElevenLabs y Claude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7;p12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Para la voz inicialmente usamos una herramienta gratuita de texto a voz (TTS) y de voz a texto (STT) que a pesar de ser funcionales no sonaban de manera natural.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Para solucionar este problema investigando encontramos ElevenLabs una herramienta que ofrece herramientas de TTS y STT que suenan mucho más humanos y funcionan mejor.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ElevenLabs no es una herramienta gratuita pero tiene una versión de prueba que sí lo es. Para ver las capacidades de esta API es más que suficiente esta versión.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Después para la parte pensante de la IA con Claude utilizando el modelo Haiku es más que suficiente y da respuestas para una conversación medio fluida.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28;p12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Google Shape;129;p12" descr="preencoded.png"/>
          <p:cNvPicPr/>
          <p:nvPr/>
        </p:nvPicPr>
        <p:blipFill>
          <a:blip r:embed="rId2"/>
          <a:stretch/>
        </p:blipFill>
        <p:spPr>
          <a:xfrm>
            <a:off x="7947720" y="2461320"/>
            <a:ext cx="2391480" cy="239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135;p13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37;p13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05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8;p13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Resumen Programa Final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9;p13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Explicación de todas las funcionalidades de las que dispone el programa final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145;p14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Google Shape;146;p14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Resumen Programa Final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47;p14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El programa final inicia preguntando el nombre del usuario y el número de tarjeta sanitaria. En estos casos si le dices tres veces que los datos son incorrectos te pedirá que los teclees tu mismo.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Después de esto inicia una consulta donde la IA tendrá hasta 10 interacciones con el usuario hasta poder aconsejarle o recomendarle que vaya urgentemente al médico o no.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Finalmente al terminar la consulta se le pregunta al usuario si quiere pedir una cita con el doctor o si finalmente no quiere.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Tras terminar la conversación la IA actualiza el documento de excel con los datos del paciente como, nombre, número de tarjeta, descripción de los síntomas, gravedad de esta (del 1 al 5), si quiere pedir cita y la fecha y hora de llamada.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48;p14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Google Shape;149;p14" descr="preencoded.png"/>
          <p:cNvPicPr/>
          <p:nvPr/>
        </p:nvPicPr>
        <p:blipFill>
          <a:blip r:embed="rId2"/>
          <a:stretch/>
        </p:blipFill>
        <p:spPr>
          <a:xfrm>
            <a:off x="8072280" y="2585880"/>
            <a:ext cx="2142000" cy="214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135;p13"/>
          <p:cNvSpPr/>
          <p:nvPr/>
        </p:nvSpPr>
        <p:spPr>
          <a:xfrm>
            <a:off x="-1371600" y="-1371600"/>
            <a:ext cx="3656520" cy="3656520"/>
          </a:xfrm>
          <a:prstGeom prst="ellipse">
            <a:avLst/>
          </a:prstGeom>
          <a:solidFill>
            <a:srgbClr val="0E7C7B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7;p13"/>
          <p:cNvSpPr/>
          <p:nvPr/>
        </p:nvSpPr>
        <p:spPr>
          <a:xfrm>
            <a:off x="731520" y="2377440"/>
            <a:ext cx="27421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0E7C7B"/>
                </a:solidFill>
                <a:effectLst/>
                <a:uFillTx/>
                <a:latin typeface="Cambria"/>
                <a:ea typeface="Cambria"/>
              </a:rPr>
              <a:t>06</a:t>
            </a:r>
            <a:endParaRPr lang="es-E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8;p13"/>
          <p:cNvSpPr/>
          <p:nvPr/>
        </p:nvSpPr>
        <p:spPr>
          <a:xfrm>
            <a:off x="731520" y="3474720"/>
            <a:ext cx="10697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Variantes del Programa</a:t>
            </a:r>
            <a:endParaRPr lang="es-E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9;p13"/>
          <p:cNvSpPr/>
          <p:nvPr/>
        </p:nvSpPr>
        <p:spPr>
          <a:xfrm>
            <a:off x="731520" y="4434840"/>
            <a:ext cx="10697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Otros enfoques posibles para adaptar el programa a distintos casos de uso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145;p14" descr="/home/claude/plantillas/logo_transparent.png"/>
          <p:cNvPicPr/>
          <p:nvPr/>
        </p:nvPicPr>
        <p:blipFill>
          <a:blip r:embed="rId1"/>
          <a:stretch/>
        </p:blipFill>
        <p:spPr>
          <a:xfrm>
            <a:off x="9692640" y="457200"/>
            <a:ext cx="1919160" cy="6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Google Shape;146;p14"/>
          <p:cNvSpPr/>
          <p:nvPr/>
        </p:nvSpPr>
        <p:spPr>
          <a:xfrm>
            <a:off x="548640" y="411480"/>
            <a:ext cx="109717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Variantes del Programa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47;p14"/>
          <p:cNvSpPr/>
          <p:nvPr/>
        </p:nvSpPr>
        <p:spPr>
          <a:xfrm>
            <a:off x="548640" y="1463040"/>
            <a:ext cx="57596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El programa puede reorientarse hacia la atención automatizada de personas mayores: el sistema realizaría llamadas periódicas y mantendría una conversación con ellos preguntándoles por su estado físico y cómo se encuentran.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Al igual que en la versión actual, la IA registraría la información de cada llamada, permitiendo hacer un seguimiento continuado del bienestar de la persona mayor a lo largo del tiempo.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El sistema generaría una alarma automática para que una persona real actúe cuando la persona mayor lleve mucho tiempo sin contestar al teléfono, lo que podría indicar una situación de emergencia.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También se generaría una alarma si durante la conversación la persona mayor menciona dolencias nuevas o síntomas de gravedad, para que una persona real pueda intervenir rápidamente si es necesario.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8;p14"/>
          <p:cNvSpPr/>
          <p:nvPr/>
        </p:nvSpPr>
        <p:spPr>
          <a:xfrm>
            <a:off x="6675120" y="1463040"/>
            <a:ext cx="4936680" cy="4388040"/>
          </a:xfrm>
          <a:prstGeom prst="roundRect">
            <a:avLst>
              <a:gd name="adj" fmla="val 1250"/>
            </a:avLst>
          </a:prstGeom>
          <a:solidFill>
            <a:srgbClr val="F4F6F8"/>
          </a:solidFill>
          <a:ln w="0">
            <a:noFill/>
          </a:ln>
          <a:effectLst>
            <a:outerShdw algn="bl" blurRad="76320" dir="27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149;p14" descr="preencoded.png"/>
          <p:cNvPicPr/>
          <p:nvPr/>
        </p:nvPicPr>
        <p:blipFill>
          <a:blip r:embed="rId2"/>
          <a:stretch/>
        </p:blipFill>
        <p:spPr>
          <a:xfrm>
            <a:off x="8072280" y="2585880"/>
            <a:ext cx="2142000" cy="214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55;p15"/>
          <p:cNvSpPr/>
          <p:nvPr/>
        </p:nvSpPr>
        <p:spPr>
          <a:xfrm>
            <a:off x="556920" y="1902240"/>
            <a:ext cx="547560" cy="547560"/>
          </a:xfrm>
          <a:prstGeom prst="ellipse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56;p15"/>
          <p:cNvSpPr/>
          <p:nvPr/>
        </p:nvSpPr>
        <p:spPr>
          <a:xfrm>
            <a:off x="548640" y="45720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Próximos pasos</a:t>
            </a:r>
            <a:endParaRPr lang="es-E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7;p15"/>
          <p:cNvSpPr/>
          <p:nvPr/>
        </p:nvSpPr>
        <p:spPr>
          <a:xfrm>
            <a:off x="548640" y="2926080"/>
            <a:ext cx="547560" cy="547560"/>
          </a:xfrm>
          <a:prstGeom prst="ellipse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8;p15"/>
          <p:cNvSpPr/>
          <p:nvPr/>
        </p:nvSpPr>
        <p:spPr>
          <a:xfrm>
            <a:off x="548640" y="29149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9;p15"/>
          <p:cNvSpPr/>
          <p:nvPr/>
        </p:nvSpPr>
        <p:spPr>
          <a:xfrm>
            <a:off x="1371600" y="2971800"/>
            <a:ext cx="9600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Prueba con distintas API de distintos modelos. (Open AI incluye texto a voz y voz a texto con la API)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60;p15"/>
          <p:cNvSpPr/>
          <p:nvPr/>
        </p:nvSpPr>
        <p:spPr>
          <a:xfrm>
            <a:off x="548640" y="576072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2A541"/>
                </a:solidFill>
                <a:effectLst/>
                <a:uFillTx/>
                <a:latin typeface="Cambria"/>
                <a:ea typeface="Cambria"/>
              </a:rPr>
              <a:t>Gracias</a:t>
            </a:r>
            <a:endParaRPr lang="es-E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61;p15"/>
          <p:cNvSpPr/>
          <p:nvPr/>
        </p:nvSpPr>
        <p:spPr>
          <a:xfrm>
            <a:off x="548640" y="630936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Contenido bajo licencia Creative Commons BY 4.0 (CC BY 4.0) — libre uso y adaptación citando la autoría</a:t>
            </a:r>
            <a:endParaRPr lang="es-E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Este documento se ha elaborado con el máximo cuidado, pero puede contener errores u omisiones; los autores no se hacen responsables del uso que se haga de su contenido.</a:t>
            </a:r>
            <a:endParaRPr lang="es-E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3;p15"/>
          <p:cNvSpPr/>
          <p:nvPr/>
        </p:nvSpPr>
        <p:spPr>
          <a:xfrm>
            <a:off x="556920" y="190224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4;p15"/>
          <p:cNvSpPr/>
          <p:nvPr/>
        </p:nvSpPr>
        <p:spPr>
          <a:xfrm>
            <a:off x="1371600" y="1947960"/>
            <a:ext cx="9600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Mejora y solución de problemas menores (error con algunas palabras de salida, reconocimiento de monosílabos)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5;p15"/>
          <p:cNvSpPr/>
          <p:nvPr/>
        </p:nvSpPr>
        <p:spPr>
          <a:xfrm>
            <a:off x="548640" y="3949920"/>
            <a:ext cx="547560" cy="547560"/>
          </a:xfrm>
          <a:prstGeom prst="ellipse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6;p15"/>
          <p:cNvSpPr/>
          <p:nvPr/>
        </p:nvSpPr>
        <p:spPr>
          <a:xfrm>
            <a:off x="548640" y="393876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7;p15"/>
          <p:cNvSpPr/>
          <p:nvPr/>
        </p:nvSpPr>
        <p:spPr>
          <a:xfrm>
            <a:off x="1371600" y="3995640"/>
            <a:ext cx="96001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Añadir una base de documentos médicos (protocolos, guías clínicas) a la que el sistema pueda acceder cuando el paciente indique una condición o enfermedad concreta, implementado mediante RAG (Retrieval-Augmented Generation) para recuperar y usar esa información en la respuesta de la IA.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20360" y="180360"/>
            <a:ext cx="4319280" cy="140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2026-09-20T11:12:55Z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